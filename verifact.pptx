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Kanit Light" panose="020B0604020202020204" charset="-34"/>
      <p:regular r:id="rId13"/>
    </p:embeddedFont>
    <p:embeddedFont>
      <p:font typeface="Martel San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736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17313"/>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1"/>
          <p:cNvSpPr/>
          <p:nvPr/>
        </p:nvSpPr>
        <p:spPr>
          <a:xfrm>
            <a:off x="793790" y="290703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VeritasAI: Your AI-Powered Truth Verification Platform</a:t>
            </a:r>
            <a:endParaRPr lang="en-US" sz="4450" dirty="0"/>
          </a:p>
        </p:txBody>
      </p:sp>
      <p:sp>
        <p:nvSpPr>
          <p:cNvPr id="5" name="Text 2"/>
          <p:cNvSpPr/>
          <p:nvPr/>
        </p:nvSpPr>
        <p:spPr>
          <a:xfrm>
            <a:off x="793790" y="4664750"/>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In an age saturated with information, distinguishing truth from fabrication has become paramount. VeritasAI offers a revolutionary solution, leveraging advanced artificial intelligence to combat the spread of misinformation and empower you with clarity.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The Rising Tide of Misinformation</a:t>
            </a:r>
            <a:endParaRPr lang="en-US" sz="4450" dirty="0"/>
          </a:p>
        </p:txBody>
      </p:sp>
      <p:sp>
        <p:nvSpPr>
          <p:cNvPr id="4" name="Text 1"/>
          <p:cNvSpPr/>
          <p:nvPr/>
        </p:nvSpPr>
        <p:spPr>
          <a:xfrm>
            <a:off x="62801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Misinformation spreads rapidly across digital platforms, eroding trust and impacting critical decisions in every aspect of life. From social media rumors to sophisticated deepfakes, discerning what's real and what's not has never been more challenging and crucial.</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286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Introducing VeritasAI: Your Trusted Guardian of Truth</a:t>
            </a:r>
            <a:endParaRPr lang="en-US" sz="4450" dirty="0"/>
          </a:p>
        </p:txBody>
      </p:sp>
      <p:sp>
        <p:nvSpPr>
          <p:cNvPr id="4" name="Text 1"/>
          <p:cNvSpPr/>
          <p:nvPr/>
        </p:nvSpPr>
        <p:spPr>
          <a:xfrm>
            <a:off x="793790" y="408634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VeritasAI is an advanced, AI-powered platform designed to empower individuals, journalists, and content moderators alike. It provides the tools to quickly and accurately verify the authenticity of online content, fostering a more informed and trustworthy digital environment.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65434"/>
            <a:ext cx="9162336"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Seamless Content Upload &amp; Analysis</a:t>
            </a:r>
            <a:endParaRPr lang="en-US" sz="4450" dirty="0"/>
          </a:p>
        </p:txBody>
      </p:sp>
      <p:sp>
        <p:nvSpPr>
          <p:cNvPr id="3" name="Shape 1"/>
          <p:cNvSpPr/>
          <p:nvPr/>
        </p:nvSpPr>
        <p:spPr>
          <a:xfrm>
            <a:off x="793790" y="2727841"/>
            <a:ext cx="4196358" cy="3318153"/>
          </a:xfrm>
          <a:prstGeom prst="roundRect">
            <a:avLst>
              <a:gd name="adj" fmla="val 2871"/>
            </a:avLst>
          </a:prstGeom>
          <a:solidFill>
            <a:srgbClr val="DFECE9"/>
          </a:solidFill>
          <a:ln w="7620">
            <a:solidFill>
              <a:srgbClr val="C5D2CF"/>
            </a:solidFill>
            <a:prstDash val="solid"/>
          </a:ln>
        </p:spPr>
      </p:sp>
      <p:sp>
        <p:nvSpPr>
          <p:cNvPr id="4" name="Shape 2"/>
          <p:cNvSpPr/>
          <p:nvPr/>
        </p:nvSpPr>
        <p:spPr>
          <a:xfrm>
            <a:off x="1028224" y="2962275"/>
            <a:ext cx="680442" cy="680442"/>
          </a:xfrm>
          <a:prstGeom prst="roundRect">
            <a:avLst>
              <a:gd name="adj" fmla="val 13436980"/>
            </a:avLst>
          </a:prstGeom>
          <a:solidFill>
            <a:srgbClr val="437066"/>
          </a:solidFill>
          <a:ln/>
        </p:spPr>
      </p:sp>
      <p:pic>
        <p:nvPicPr>
          <p:cNvPr id="5" name="Image 0" descr="preencoded.png"/>
          <p:cNvPicPr>
            <a:picLocks noChangeAspect="1"/>
          </p:cNvPicPr>
          <p:nvPr/>
        </p:nvPicPr>
        <p:blipFill>
          <a:blip r:embed="rId3"/>
          <a:stretch>
            <a:fillRect/>
          </a:stretch>
        </p:blipFill>
        <p:spPr>
          <a:xfrm>
            <a:off x="1215390" y="3111103"/>
            <a:ext cx="306110" cy="382667"/>
          </a:xfrm>
          <a:prstGeom prst="rect">
            <a:avLst/>
          </a:prstGeom>
        </p:spPr>
      </p:pic>
      <p:sp>
        <p:nvSpPr>
          <p:cNvPr id="6" name="Text 3"/>
          <p:cNvSpPr/>
          <p:nvPr/>
        </p:nvSpPr>
        <p:spPr>
          <a:xfrm>
            <a:off x="1028224" y="38695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Text Upload</a:t>
            </a:r>
            <a:endParaRPr lang="en-US" sz="2200" dirty="0"/>
          </a:p>
        </p:txBody>
      </p:sp>
      <p:sp>
        <p:nvSpPr>
          <p:cNvPr id="7" name="Text 4"/>
          <p:cNvSpPr/>
          <p:nvPr/>
        </p:nvSpPr>
        <p:spPr>
          <a:xfrm>
            <a:off x="1028224" y="4359950"/>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Effortlessly paste or type any textual content for immediate analysis and verification.</a:t>
            </a:r>
            <a:endParaRPr lang="en-US" sz="1750" dirty="0"/>
          </a:p>
        </p:txBody>
      </p:sp>
      <p:sp>
        <p:nvSpPr>
          <p:cNvPr id="8" name="Shape 5"/>
          <p:cNvSpPr/>
          <p:nvPr/>
        </p:nvSpPr>
        <p:spPr>
          <a:xfrm>
            <a:off x="5216962" y="2727841"/>
            <a:ext cx="4196358" cy="3318153"/>
          </a:xfrm>
          <a:prstGeom prst="roundRect">
            <a:avLst>
              <a:gd name="adj" fmla="val 2871"/>
            </a:avLst>
          </a:prstGeom>
          <a:solidFill>
            <a:srgbClr val="DFECE9"/>
          </a:solidFill>
          <a:ln w="7620">
            <a:solidFill>
              <a:srgbClr val="C5D2CF"/>
            </a:solidFill>
            <a:prstDash val="solid"/>
          </a:ln>
        </p:spPr>
      </p:sp>
      <p:sp>
        <p:nvSpPr>
          <p:cNvPr id="9" name="Shape 6"/>
          <p:cNvSpPr/>
          <p:nvPr/>
        </p:nvSpPr>
        <p:spPr>
          <a:xfrm>
            <a:off x="5451396" y="2962275"/>
            <a:ext cx="680442" cy="680442"/>
          </a:xfrm>
          <a:prstGeom prst="roundRect">
            <a:avLst>
              <a:gd name="adj" fmla="val 13436980"/>
            </a:avLst>
          </a:prstGeom>
          <a:solidFill>
            <a:srgbClr val="437066"/>
          </a:solidFill>
          <a:ln/>
        </p:spPr>
      </p:sp>
      <p:pic>
        <p:nvPicPr>
          <p:cNvPr id="10" name="Image 1" descr="preencoded.png"/>
          <p:cNvPicPr>
            <a:picLocks noChangeAspect="1"/>
          </p:cNvPicPr>
          <p:nvPr/>
        </p:nvPicPr>
        <p:blipFill>
          <a:blip r:embed="rId4"/>
          <a:stretch>
            <a:fillRect/>
          </a:stretch>
        </p:blipFill>
        <p:spPr>
          <a:xfrm>
            <a:off x="5638562" y="3111103"/>
            <a:ext cx="306110" cy="382667"/>
          </a:xfrm>
          <a:prstGeom prst="rect">
            <a:avLst/>
          </a:prstGeom>
        </p:spPr>
      </p:pic>
      <p:sp>
        <p:nvSpPr>
          <p:cNvPr id="11" name="Text 7"/>
          <p:cNvSpPr/>
          <p:nvPr/>
        </p:nvSpPr>
        <p:spPr>
          <a:xfrm>
            <a:off x="5451396" y="38695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Image Upload</a:t>
            </a:r>
            <a:endParaRPr lang="en-US" sz="2200" dirty="0"/>
          </a:p>
        </p:txBody>
      </p:sp>
      <p:sp>
        <p:nvSpPr>
          <p:cNvPr id="12" name="Text 8"/>
          <p:cNvSpPr/>
          <p:nvPr/>
        </p:nvSpPr>
        <p:spPr>
          <a:xfrm>
            <a:off x="5451396" y="4359950"/>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Upload images, graphics, or memes to uncover visual manipulations and verify their origin.</a:t>
            </a:r>
            <a:endParaRPr lang="en-US" sz="1750" dirty="0"/>
          </a:p>
        </p:txBody>
      </p:sp>
      <p:sp>
        <p:nvSpPr>
          <p:cNvPr id="13" name="Shape 9"/>
          <p:cNvSpPr/>
          <p:nvPr/>
        </p:nvSpPr>
        <p:spPr>
          <a:xfrm>
            <a:off x="9640133" y="2727841"/>
            <a:ext cx="4196358" cy="3318153"/>
          </a:xfrm>
          <a:prstGeom prst="roundRect">
            <a:avLst>
              <a:gd name="adj" fmla="val 2871"/>
            </a:avLst>
          </a:prstGeom>
          <a:solidFill>
            <a:srgbClr val="DFECE9"/>
          </a:solidFill>
          <a:ln w="7620">
            <a:solidFill>
              <a:srgbClr val="C5D2CF"/>
            </a:solidFill>
            <a:prstDash val="solid"/>
          </a:ln>
        </p:spPr>
      </p:sp>
      <p:sp>
        <p:nvSpPr>
          <p:cNvPr id="14" name="Shape 10"/>
          <p:cNvSpPr/>
          <p:nvPr/>
        </p:nvSpPr>
        <p:spPr>
          <a:xfrm>
            <a:off x="9874568" y="2962275"/>
            <a:ext cx="680442" cy="680442"/>
          </a:xfrm>
          <a:prstGeom prst="roundRect">
            <a:avLst>
              <a:gd name="adj" fmla="val 13436980"/>
            </a:avLst>
          </a:prstGeom>
          <a:solidFill>
            <a:srgbClr val="437066"/>
          </a:solidFill>
          <a:ln/>
        </p:spPr>
      </p:sp>
      <p:pic>
        <p:nvPicPr>
          <p:cNvPr id="15" name="Image 2" descr="preencoded.png"/>
          <p:cNvPicPr>
            <a:picLocks noChangeAspect="1"/>
          </p:cNvPicPr>
          <p:nvPr/>
        </p:nvPicPr>
        <p:blipFill>
          <a:blip r:embed="rId5"/>
          <a:stretch>
            <a:fillRect/>
          </a:stretch>
        </p:blipFill>
        <p:spPr>
          <a:xfrm>
            <a:off x="10061734" y="3111103"/>
            <a:ext cx="306110" cy="382667"/>
          </a:xfrm>
          <a:prstGeom prst="rect">
            <a:avLst/>
          </a:prstGeom>
        </p:spPr>
      </p:pic>
      <p:sp>
        <p:nvSpPr>
          <p:cNvPr id="16" name="Text 11"/>
          <p:cNvSpPr/>
          <p:nvPr/>
        </p:nvSpPr>
        <p:spPr>
          <a:xfrm>
            <a:off x="9874568" y="386953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Video Upload</a:t>
            </a:r>
            <a:endParaRPr lang="en-US" sz="2200" dirty="0"/>
          </a:p>
        </p:txBody>
      </p:sp>
      <p:sp>
        <p:nvSpPr>
          <p:cNvPr id="17" name="Text 12"/>
          <p:cNvSpPr/>
          <p:nvPr/>
        </p:nvSpPr>
        <p:spPr>
          <a:xfrm>
            <a:off x="9874568" y="4359950"/>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Submit video clips for comprehensive scrutiny, detecting deepfakes or altered footage.</a:t>
            </a:r>
            <a:endParaRPr lang="en-US" sz="1750" dirty="0"/>
          </a:p>
        </p:txBody>
      </p:sp>
      <p:sp>
        <p:nvSpPr>
          <p:cNvPr id="18" name="Text 13"/>
          <p:cNvSpPr/>
          <p:nvPr/>
        </p:nvSpPr>
        <p:spPr>
          <a:xfrm>
            <a:off x="793790" y="630114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Our intuitive interface makes it simple to submit various content types for rapid, AI-driven verification.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386"/>
          </a:xfrm>
          <a:prstGeom prst="rect">
            <a:avLst/>
          </a:prstGeom>
        </p:spPr>
      </p:pic>
      <p:sp>
        <p:nvSpPr>
          <p:cNvPr id="3" name="Text 0"/>
          <p:cNvSpPr/>
          <p:nvPr/>
        </p:nvSpPr>
        <p:spPr>
          <a:xfrm>
            <a:off x="6176248" y="541972"/>
            <a:ext cx="7764304" cy="1231821"/>
          </a:xfrm>
          <a:prstGeom prst="rect">
            <a:avLst/>
          </a:prstGeom>
          <a:noFill/>
          <a:ln/>
        </p:spPr>
        <p:txBody>
          <a:bodyPr wrap="square" lIns="0" tIns="0" rIns="0" bIns="0" rtlCol="0" anchor="t"/>
          <a:lstStyle/>
          <a:p>
            <a:pPr marL="0" indent="0" algn="l">
              <a:lnSpc>
                <a:spcPts val="4850"/>
              </a:lnSpc>
              <a:buNone/>
            </a:pPr>
            <a:r>
              <a:rPr lang="en-US" sz="3850" dirty="0">
                <a:solidFill>
                  <a:srgbClr val="272D45"/>
                </a:solidFill>
                <a:latin typeface="Kanit Light" pitchFamily="34" charset="0"/>
                <a:ea typeface="Kanit Light" pitchFamily="34" charset="-122"/>
                <a:cs typeface="Kanit Light" pitchFamily="34" charset="-120"/>
              </a:rPr>
              <a:t>The Intelligent VeritasAI Verification Engine</a:t>
            </a:r>
            <a:endParaRPr lang="en-US" sz="3850" dirty="0"/>
          </a:p>
        </p:txBody>
      </p:sp>
      <p:sp>
        <p:nvSpPr>
          <p:cNvPr id="4" name="Text 1"/>
          <p:cNvSpPr/>
          <p:nvPr/>
        </p:nvSpPr>
        <p:spPr>
          <a:xfrm>
            <a:off x="6176248" y="2069425"/>
            <a:ext cx="7764304" cy="1261586"/>
          </a:xfrm>
          <a:prstGeom prst="rect">
            <a:avLst/>
          </a:prstGeom>
          <a:noFill/>
          <a:ln/>
        </p:spPr>
        <p:txBody>
          <a:bodyPr wrap="square" lIns="0" tIns="0" rIns="0" bIns="0" rtlCol="0" anchor="t"/>
          <a:lstStyle/>
          <a:p>
            <a:pPr marL="0" indent="0" algn="l">
              <a:lnSpc>
                <a:spcPts val="2450"/>
              </a:lnSpc>
              <a:buNone/>
            </a:pPr>
            <a:r>
              <a:rPr lang="en-US" sz="1550" dirty="0">
                <a:solidFill>
                  <a:srgbClr val="2C3249"/>
                </a:solidFill>
                <a:latin typeface="Martel Sans" pitchFamily="34" charset="0"/>
                <a:ea typeface="Martel Sans" pitchFamily="34" charset="-122"/>
                <a:cs typeface="Martel Sans" pitchFamily="34" charset="-120"/>
              </a:rPr>
              <a:t>At the core of VeritasAI is a sophisticated AI engine that meticulously analyzes every uploaded piece of content. It processes vast amounts of data, cross-references reliable sources, and applies advanced algorithms to determine accuracy.</a:t>
            </a:r>
            <a:endParaRPr lang="en-US" sz="1550" dirty="0"/>
          </a:p>
        </p:txBody>
      </p:sp>
      <p:sp>
        <p:nvSpPr>
          <p:cNvPr id="5" name="Shape 2"/>
          <p:cNvSpPr/>
          <p:nvPr/>
        </p:nvSpPr>
        <p:spPr>
          <a:xfrm>
            <a:off x="6176248" y="3552706"/>
            <a:ext cx="3783568" cy="2127528"/>
          </a:xfrm>
          <a:prstGeom prst="roundRect">
            <a:avLst>
              <a:gd name="adj" fmla="val 5158"/>
            </a:avLst>
          </a:prstGeom>
          <a:solidFill>
            <a:srgbClr val="FFFFFF"/>
          </a:solidFill>
          <a:ln w="22860">
            <a:solidFill>
              <a:srgbClr val="437066"/>
            </a:solidFill>
            <a:prstDash val="solid"/>
          </a:ln>
        </p:spPr>
      </p:sp>
      <p:sp>
        <p:nvSpPr>
          <p:cNvPr id="6" name="Shape 3"/>
          <p:cNvSpPr/>
          <p:nvPr/>
        </p:nvSpPr>
        <p:spPr>
          <a:xfrm>
            <a:off x="6153388" y="3552706"/>
            <a:ext cx="91440" cy="2127528"/>
          </a:xfrm>
          <a:prstGeom prst="roundRect">
            <a:avLst>
              <a:gd name="adj" fmla="val 90538"/>
            </a:avLst>
          </a:prstGeom>
          <a:solidFill>
            <a:srgbClr val="437066"/>
          </a:solidFill>
          <a:ln/>
        </p:spPr>
      </p:sp>
      <p:sp>
        <p:nvSpPr>
          <p:cNvPr id="7" name="Text 4"/>
          <p:cNvSpPr/>
          <p:nvPr/>
        </p:nvSpPr>
        <p:spPr>
          <a:xfrm>
            <a:off x="6464737" y="3772614"/>
            <a:ext cx="2463879" cy="307896"/>
          </a:xfrm>
          <a:prstGeom prst="rect">
            <a:avLst/>
          </a:prstGeom>
          <a:noFill/>
          <a:ln/>
        </p:spPr>
        <p:txBody>
          <a:bodyPr wrap="none" lIns="0" tIns="0" rIns="0" bIns="0" rtlCol="0" anchor="t"/>
          <a:lstStyle/>
          <a:p>
            <a:pPr marL="0" indent="0" algn="l">
              <a:lnSpc>
                <a:spcPts val="2400"/>
              </a:lnSpc>
              <a:buNone/>
            </a:pPr>
            <a:r>
              <a:rPr lang="en-US" sz="1900" dirty="0">
                <a:solidFill>
                  <a:srgbClr val="2C3249"/>
                </a:solidFill>
                <a:latin typeface="Kanit Light" pitchFamily="34" charset="0"/>
                <a:ea typeface="Kanit Light" pitchFamily="34" charset="-122"/>
                <a:cs typeface="Kanit Light" pitchFamily="34" charset="-120"/>
              </a:rPr>
              <a:t>True</a:t>
            </a:r>
            <a:endParaRPr lang="en-US" sz="1900" dirty="0"/>
          </a:p>
        </p:txBody>
      </p:sp>
      <p:sp>
        <p:nvSpPr>
          <p:cNvPr id="8" name="Text 5"/>
          <p:cNvSpPr/>
          <p:nvPr/>
        </p:nvSpPr>
        <p:spPr>
          <a:xfrm>
            <a:off x="6464737" y="4198739"/>
            <a:ext cx="3275171" cy="946190"/>
          </a:xfrm>
          <a:prstGeom prst="rect">
            <a:avLst/>
          </a:prstGeom>
          <a:noFill/>
          <a:ln/>
        </p:spPr>
        <p:txBody>
          <a:bodyPr wrap="square" lIns="0" tIns="0" rIns="0" bIns="0" rtlCol="0" anchor="t"/>
          <a:lstStyle/>
          <a:p>
            <a:pPr marL="0" indent="0" algn="l">
              <a:lnSpc>
                <a:spcPts val="2450"/>
              </a:lnSpc>
              <a:buNone/>
            </a:pPr>
            <a:r>
              <a:rPr lang="en-US" sz="1550" dirty="0">
                <a:solidFill>
                  <a:srgbClr val="2C3249"/>
                </a:solidFill>
                <a:latin typeface="Martel Sans" pitchFamily="34" charset="0"/>
                <a:ea typeface="Martel Sans" pitchFamily="34" charset="-122"/>
                <a:cs typeface="Martel Sans" pitchFamily="34" charset="-120"/>
              </a:rPr>
              <a:t>Content aligns with verified facts and reputable sources (Green light).</a:t>
            </a:r>
            <a:endParaRPr lang="en-US" sz="1550" dirty="0"/>
          </a:p>
        </p:txBody>
      </p:sp>
      <p:sp>
        <p:nvSpPr>
          <p:cNvPr id="9" name="Shape 6"/>
          <p:cNvSpPr/>
          <p:nvPr/>
        </p:nvSpPr>
        <p:spPr>
          <a:xfrm>
            <a:off x="10156865" y="3552706"/>
            <a:ext cx="3783687" cy="2127528"/>
          </a:xfrm>
          <a:prstGeom prst="roundRect">
            <a:avLst>
              <a:gd name="adj" fmla="val 5158"/>
            </a:avLst>
          </a:prstGeom>
          <a:solidFill>
            <a:srgbClr val="FFFFFF"/>
          </a:solidFill>
          <a:ln w="22860">
            <a:solidFill>
              <a:srgbClr val="437066"/>
            </a:solidFill>
            <a:prstDash val="solid"/>
          </a:ln>
        </p:spPr>
      </p:sp>
      <p:sp>
        <p:nvSpPr>
          <p:cNvPr id="10" name="Shape 7"/>
          <p:cNvSpPr/>
          <p:nvPr/>
        </p:nvSpPr>
        <p:spPr>
          <a:xfrm>
            <a:off x="10134005" y="3552706"/>
            <a:ext cx="91440" cy="2127528"/>
          </a:xfrm>
          <a:prstGeom prst="roundRect">
            <a:avLst>
              <a:gd name="adj" fmla="val 90538"/>
            </a:avLst>
          </a:prstGeom>
          <a:solidFill>
            <a:srgbClr val="437066"/>
          </a:solidFill>
          <a:ln/>
        </p:spPr>
      </p:sp>
      <p:sp>
        <p:nvSpPr>
          <p:cNvPr id="11" name="Text 8"/>
          <p:cNvSpPr/>
          <p:nvPr/>
        </p:nvSpPr>
        <p:spPr>
          <a:xfrm>
            <a:off x="10445353" y="3772614"/>
            <a:ext cx="2463879" cy="307896"/>
          </a:xfrm>
          <a:prstGeom prst="rect">
            <a:avLst/>
          </a:prstGeom>
          <a:noFill/>
          <a:ln/>
        </p:spPr>
        <p:txBody>
          <a:bodyPr wrap="none" lIns="0" tIns="0" rIns="0" bIns="0" rtlCol="0" anchor="t"/>
          <a:lstStyle/>
          <a:p>
            <a:pPr marL="0" indent="0" algn="l">
              <a:lnSpc>
                <a:spcPts val="2400"/>
              </a:lnSpc>
              <a:buNone/>
            </a:pPr>
            <a:r>
              <a:rPr lang="en-US" sz="1900" dirty="0">
                <a:solidFill>
                  <a:srgbClr val="2C3249"/>
                </a:solidFill>
                <a:latin typeface="Kanit Light" pitchFamily="34" charset="0"/>
                <a:ea typeface="Kanit Light" pitchFamily="34" charset="-122"/>
                <a:cs typeface="Kanit Light" pitchFamily="34" charset="-120"/>
              </a:rPr>
              <a:t>Misleading</a:t>
            </a:r>
            <a:endParaRPr lang="en-US" sz="1900" dirty="0"/>
          </a:p>
        </p:txBody>
      </p:sp>
      <p:sp>
        <p:nvSpPr>
          <p:cNvPr id="12" name="Text 9"/>
          <p:cNvSpPr/>
          <p:nvPr/>
        </p:nvSpPr>
        <p:spPr>
          <a:xfrm>
            <a:off x="10445353" y="4198739"/>
            <a:ext cx="3275290" cy="1261586"/>
          </a:xfrm>
          <a:prstGeom prst="rect">
            <a:avLst/>
          </a:prstGeom>
          <a:noFill/>
          <a:ln/>
        </p:spPr>
        <p:txBody>
          <a:bodyPr wrap="square" lIns="0" tIns="0" rIns="0" bIns="0" rtlCol="0" anchor="t"/>
          <a:lstStyle/>
          <a:p>
            <a:pPr marL="0" indent="0" algn="l">
              <a:lnSpc>
                <a:spcPts val="2450"/>
              </a:lnSpc>
              <a:buNone/>
            </a:pPr>
            <a:r>
              <a:rPr lang="en-US" sz="1550" dirty="0">
                <a:solidFill>
                  <a:srgbClr val="2C3249"/>
                </a:solidFill>
                <a:latin typeface="Martel Sans" pitchFamily="34" charset="0"/>
                <a:ea typeface="Martel Sans" pitchFamily="34" charset="-122"/>
                <a:cs typeface="Martel Sans" pitchFamily="34" charset="-120"/>
              </a:rPr>
              <a:t>Content contains elements of truth but lacks crucial context or is presented to deceive (Yellow warning).</a:t>
            </a:r>
            <a:endParaRPr lang="en-US" sz="1550" dirty="0"/>
          </a:p>
        </p:txBody>
      </p:sp>
      <p:sp>
        <p:nvSpPr>
          <p:cNvPr id="13" name="Shape 10"/>
          <p:cNvSpPr/>
          <p:nvPr/>
        </p:nvSpPr>
        <p:spPr>
          <a:xfrm>
            <a:off x="6176248" y="5877282"/>
            <a:ext cx="3783568" cy="1812131"/>
          </a:xfrm>
          <a:prstGeom prst="roundRect">
            <a:avLst>
              <a:gd name="adj" fmla="val 6055"/>
            </a:avLst>
          </a:prstGeom>
          <a:solidFill>
            <a:srgbClr val="FFFFFF"/>
          </a:solidFill>
          <a:ln w="22860">
            <a:solidFill>
              <a:srgbClr val="437066"/>
            </a:solidFill>
            <a:prstDash val="solid"/>
          </a:ln>
        </p:spPr>
      </p:sp>
      <p:sp>
        <p:nvSpPr>
          <p:cNvPr id="14" name="Shape 11"/>
          <p:cNvSpPr/>
          <p:nvPr/>
        </p:nvSpPr>
        <p:spPr>
          <a:xfrm>
            <a:off x="6153388" y="5877282"/>
            <a:ext cx="91440" cy="1812131"/>
          </a:xfrm>
          <a:prstGeom prst="roundRect">
            <a:avLst>
              <a:gd name="adj" fmla="val 90538"/>
            </a:avLst>
          </a:prstGeom>
          <a:solidFill>
            <a:srgbClr val="437066"/>
          </a:solidFill>
          <a:ln/>
        </p:spPr>
      </p:sp>
      <p:sp>
        <p:nvSpPr>
          <p:cNvPr id="15" name="Text 12"/>
          <p:cNvSpPr/>
          <p:nvPr/>
        </p:nvSpPr>
        <p:spPr>
          <a:xfrm>
            <a:off x="6464737" y="6097191"/>
            <a:ext cx="2463879" cy="307896"/>
          </a:xfrm>
          <a:prstGeom prst="rect">
            <a:avLst/>
          </a:prstGeom>
          <a:noFill/>
          <a:ln/>
        </p:spPr>
        <p:txBody>
          <a:bodyPr wrap="none" lIns="0" tIns="0" rIns="0" bIns="0" rtlCol="0" anchor="t"/>
          <a:lstStyle/>
          <a:p>
            <a:pPr marL="0" indent="0" algn="l">
              <a:lnSpc>
                <a:spcPts val="2400"/>
              </a:lnSpc>
              <a:buNone/>
            </a:pPr>
            <a:r>
              <a:rPr lang="en-US" sz="1900" dirty="0">
                <a:solidFill>
                  <a:srgbClr val="2C3249"/>
                </a:solidFill>
                <a:latin typeface="Kanit Light" pitchFamily="34" charset="0"/>
                <a:ea typeface="Kanit Light" pitchFamily="34" charset="-122"/>
                <a:cs typeface="Kanit Light" pitchFamily="34" charset="-120"/>
              </a:rPr>
              <a:t>False</a:t>
            </a:r>
            <a:endParaRPr lang="en-US" sz="1900" dirty="0"/>
          </a:p>
        </p:txBody>
      </p:sp>
      <p:sp>
        <p:nvSpPr>
          <p:cNvPr id="16" name="Text 13"/>
          <p:cNvSpPr/>
          <p:nvPr/>
        </p:nvSpPr>
        <p:spPr>
          <a:xfrm>
            <a:off x="6464737" y="6523315"/>
            <a:ext cx="3275171" cy="946190"/>
          </a:xfrm>
          <a:prstGeom prst="rect">
            <a:avLst/>
          </a:prstGeom>
          <a:noFill/>
          <a:ln/>
        </p:spPr>
        <p:txBody>
          <a:bodyPr wrap="square" lIns="0" tIns="0" rIns="0" bIns="0" rtlCol="0" anchor="t"/>
          <a:lstStyle/>
          <a:p>
            <a:pPr marL="0" indent="0" algn="l">
              <a:lnSpc>
                <a:spcPts val="2450"/>
              </a:lnSpc>
              <a:buNone/>
            </a:pPr>
            <a:r>
              <a:rPr lang="en-US" sz="1550" dirty="0">
                <a:solidFill>
                  <a:srgbClr val="2C3249"/>
                </a:solidFill>
                <a:latin typeface="Martel Sans" pitchFamily="34" charset="0"/>
                <a:ea typeface="Martel Sans" pitchFamily="34" charset="-122"/>
                <a:cs typeface="Martel Sans" pitchFamily="34" charset="-120"/>
              </a:rPr>
              <a:t>Content is factually incorrect and not supported by evidence (Red alert).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92612"/>
            <a:ext cx="6688693"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Clear &amp; Actionable Insights</a:t>
            </a:r>
            <a:endParaRPr lang="en-US" sz="4450" dirty="0"/>
          </a:p>
        </p:txBody>
      </p:sp>
      <p:sp>
        <p:nvSpPr>
          <p:cNvPr id="3" name="Text 1"/>
          <p:cNvSpPr/>
          <p:nvPr/>
        </p:nvSpPr>
        <p:spPr>
          <a:xfrm>
            <a:off x="793790" y="2168366"/>
            <a:ext cx="4741545" cy="425291"/>
          </a:xfrm>
          <a:prstGeom prst="rect">
            <a:avLst/>
          </a:prstGeom>
          <a:noFill/>
          <a:ln/>
        </p:spPr>
        <p:txBody>
          <a:bodyPr wrap="none" lIns="0" tIns="0" rIns="0" bIns="0" rtlCol="0" anchor="t"/>
          <a:lstStyle/>
          <a:p>
            <a:pPr marL="0" indent="0" algn="l">
              <a:lnSpc>
                <a:spcPts val="3300"/>
              </a:lnSpc>
              <a:buNone/>
            </a:pPr>
            <a:r>
              <a:rPr lang="en-US" sz="2650" dirty="0">
                <a:solidFill>
                  <a:srgbClr val="272D45"/>
                </a:solidFill>
                <a:latin typeface="Kanit Light" pitchFamily="34" charset="0"/>
                <a:ea typeface="Kanit Light" pitchFamily="34" charset="-122"/>
                <a:cs typeface="Kanit Light" pitchFamily="34" charset="-120"/>
              </a:rPr>
              <a:t>Instant, Understandable Results</a:t>
            </a:r>
            <a:endParaRPr lang="en-US" sz="2650" dirty="0"/>
          </a:p>
        </p:txBody>
      </p:sp>
      <p:sp>
        <p:nvSpPr>
          <p:cNvPr id="4" name="Text 2"/>
          <p:cNvSpPr/>
          <p:nvPr/>
        </p:nvSpPr>
        <p:spPr>
          <a:xfrm>
            <a:off x="793790" y="2820472"/>
            <a:ext cx="7604284"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Our dashboard-style results page provides an immediate, color-coded truth meter indicating the content's veracity. This visual simplicity ensures that anyone can quickly grasp the findings.</a:t>
            </a:r>
            <a:endParaRPr lang="en-US" sz="1750" dirty="0"/>
          </a:p>
        </p:txBody>
      </p:sp>
      <p:sp>
        <p:nvSpPr>
          <p:cNvPr id="5" name="Text 3"/>
          <p:cNvSpPr/>
          <p:nvPr/>
        </p:nvSpPr>
        <p:spPr>
          <a:xfrm>
            <a:off x="793790" y="4113252"/>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Easy-to-read output for rapid assessment.</a:t>
            </a:r>
            <a:endParaRPr lang="en-US" sz="1750" dirty="0"/>
          </a:p>
        </p:txBody>
      </p:sp>
      <p:sp>
        <p:nvSpPr>
          <p:cNvPr id="6" name="Text 4"/>
          <p:cNvSpPr/>
          <p:nvPr/>
        </p:nvSpPr>
        <p:spPr>
          <a:xfrm>
            <a:off x="793790" y="4555450"/>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Direct links to multiple reliable sources for independent verification.</a:t>
            </a:r>
            <a:endParaRPr lang="en-US" sz="1750" dirty="0"/>
          </a:p>
        </p:txBody>
      </p:sp>
      <p:sp>
        <p:nvSpPr>
          <p:cNvPr id="7" name="Text 5"/>
          <p:cNvSpPr/>
          <p:nvPr/>
        </p:nvSpPr>
        <p:spPr>
          <a:xfrm>
            <a:off x="793790" y="5360551"/>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Comprehensive context explaining the 'why' behind the verdict.</a:t>
            </a:r>
            <a:endParaRPr lang="en-US" sz="1750" dirty="0"/>
          </a:p>
        </p:txBody>
      </p:sp>
      <p:pic>
        <p:nvPicPr>
          <p:cNvPr id="8" name="Image 0" descr="preencoded.png"/>
          <p:cNvPicPr>
            <a:picLocks noChangeAspect="1"/>
          </p:cNvPicPr>
          <p:nvPr/>
        </p:nvPicPr>
        <p:blipFill>
          <a:blip r:embed="rId3"/>
          <a:stretch>
            <a:fillRect/>
          </a:stretch>
        </p:blipFill>
        <p:spPr>
          <a:xfrm>
            <a:off x="8959096" y="2196703"/>
            <a:ext cx="4885015" cy="48850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1838" y="704017"/>
            <a:ext cx="7853124" cy="1590675"/>
          </a:xfrm>
          <a:prstGeom prst="rect">
            <a:avLst/>
          </a:prstGeom>
          <a:noFill/>
          <a:ln/>
        </p:spPr>
        <p:txBody>
          <a:bodyPr wrap="square" lIns="0" tIns="0" rIns="0" bIns="0" rtlCol="0" anchor="t"/>
          <a:lstStyle/>
          <a:p>
            <a:pPr marL="0" indent="0" algn="l">
              <a:lnSpc>
                <a:spcPts val="6250"/>
              </a:lnSpc>
              <a:buNone/>
            </a:pPr>
            <a:r>
              <a:rPr lang="en-US" sz="5000" dirty="0">
                <a:solidFill>
                  <a:srgbClr val="272D45"/>
                </a:solidFill>
                <a:latin typeface="Kanit Light" pitchFamily="34" charset="0"/>
                <a:ea typeface="Kanit Light" pitchFamily="34" charset="-122"/>
                <a:cs typeface="Kanit Light" pitchFamily="34" charset="-120"/>
              </a:rPr>
              <a:t>The Journey of Misinformation</a:t>
            </a:r>
            <a:endParaRPr lang="en-US" sz="5000" dirty="0"/>
          </a:p>
        </p:txBody>
      </p:sp>
      <p:sp>
        <p:nvSpPr>
          <p:cNvPr id="4" name="Text 1"/>
          <p:cNvSpPr/>
          <p:nvPr/>
        </p:nvSpPr>
        <p:spPr>
          <a:xfrm>
            <a:off x="6131838" y="2571274"/>
            <a:ext cx="6707267" cy="576263"/>
          </a:xfrm>
          <a:prstGeom prst="rect">
            <a:avLst/>
          </a:prstGeom>
          <a:noFill/>
          <a:ln/>
        </p:spPr>
        <p:txBody>
          <a:bodyPr wrap="none" lIns="0" tIns="0" rIns="0" bIns="0" rtlCol="0" anchor="t"/>
          <a:lstStyle/>
          <a:p>
            <a:pPr marL="0" indent="0" algn="l">
              <a:lnSpc>
                <a:spcPts val="4500"/>
              </a:lnSpc>
              <a:buNone/>
            </a:pPr>
            <a:r>
              <a:rPr lang="en-US" sz="3600" dirty="0">
                <a:solidFill>
                  <a:srgbClr val="272D45"/>
                </a:solidFill>
                <a:latin typeface="Kanit Light" pitchFamily="34" charset="0"/>
                <a:ea typeface="Kanit Light" pitchFamily="34" charset="-122"/>
                <a:cs typeface="Kanit Light" pitchFamily="34" charset="-120"/>
              </a:rPr>
              <a:t>Unveiling the Evolution of Claims</a:t>
            </a:r>
            <a:endParaRPr lang="en-US" sz="3600" dirty="0"/>
          </a:p>
        </p:txBody>
      </p:sp>
      <p:sp>
        <p:nvSpPr>
          <p:cNvPr id="5" name="Text 2"/>
          <p:cNvSpPr/>
          <p:nvPr/>
        </p:nvSpPr>
        <p:spPr>
          <a:xfrm>
            <a:off x="6131838" y="3424118"/>
            <a:ext cx="7853124" cy="885111"/>
          </a:xfrm>
          <a:prstGeom prst="rect">
            <a:avLst/>
          </a:prstGeom>
          <a:noFill/>
          <a:ln/>
        </p:spPr>
        <p:txBody>
          <a:bodyPr wrap="square" lIns="0" tIns="0" rIns="0" bIns="0" rtlCol="0" anchor="t"/>
          <a:lstStyle/>
          <a:p>
            <a:pPr marL="0" indent="0" algn="l">
              <a:lnSpc>
                <a:spcPts val="2300"/>
              </a:lnSpc>
              <a:buNone/>
            </a:pPr>
            <a:r>
              <a:rPr lang="en-US" sz="1450" dirty="0">
                <a:solidFill>
                  <a:srgbClr val="2C3249"/>
                </a:solidFill>
                <a:latin typeface="Martel Sans" pitchFamily="34" charset="0"/>
                <a:ea typeface="Martel Sans" pitchFamily="34" charset="-122"/>
                <a:cs typeface="Martel Sans" pitchFamily="34" charset="-120"/>
              </a:rPr>
              <a:t>VeritasAI goes beyond a simple 'true' or 'false.' Our unique visual storytelling feature charts the lifecycle of a claim, illustrating its origin, how it was fact-checked, and its spread across various platforms over time. It's a compelling "journey of misinformation."</a:t>
            </a:r>
            <a:endParaRPr lang="en-US" sz="1450" dirty="0"/>
          </a:p>
        </p:txBody>
      </p:sp>
      <p:sp>
        <p:nvSpPr>
          <p:cNvPr id="6" name="Shape 3"/>
          <p:cNvSpPr/>
          <p:nvPr/>
        </p:nvSpPr>
        <p:spPr>
          <a:xfrm>
            <a:off x="6339245" y="4516636"/>
            <a:ext cx="22860" cy="3008828"/>
          </a:xfrm>
          <a:prstGeom prst="roundRect">
            <a:avLst>
              <a:gd name="adj" fmla="val 338819"/>
            </a:avLst>
          </a:prstGeom>
          <a:solidFill>
            <a:srgbClr val="C5D2CF"/>
          </a:solidFill>
          <a:ln/>
        </p:spPr>
      </p:sp>
      <p:sp>
        <p:nvSpPr>
          <p:cNvPr id="7" name="Shape 4"/>
          <p:cNvSpPr/>
          <p:nvPr/>
        </p:nvSpPr>
        <p:spPr>
          <a:xfrm>
            <a:off x="6523792" y="4712613"/>
            <a:ext cx="553164" cy="22860"/>
          </a:xfrm>
          <a:prstGeom prst="roundRect">
            <a:avLst>
              <a:gd name="adj" fmla="val 338819"/>
            </a:avLst>
          </a:prstGeom>
          <a:solidFill>
            <a:srgbClr val="C5D2CF"/>
          </a:solidFill>
          <a:ln/>
        </p:spPr>
      </p:sp>
      <p:sp>
        <p:nvSpPr>
          <p:cNvPr id="8" name="Shape 5"/>
          <p:cNvSpPr/>
          <p:nvPr/>
        </p:nvSpPr>
        <p:spPr>
          <a:xfrm>
            <a:off x="6131838" y="4516636"/>
            <a:ext cx="414814" cy="414814"/>
          </a:xfrm>
          <a:prstGeom prst="roundRect">
            <a:avLst>
              <a:gd name="adj" fmla="val 18672"/>
            </a:avLst>
          </a:prstGeom>
          <a:solidFill>
            <a:srgbClr val="DFECE9"/>
          </a:solidFill>
          <a:ln w="7620">
            <a:solidFill>
              <a:srgbClr val="C5D2CF"/>
            </a:solidFill>
            <a:prstDash val="solid"/>
          </a:ln>
        </p:spPr>
      </p:sp>
      <p:sp>
        <p:nvSpPr>
          <p:cNvPr id="9" name="Text 6"/>
          <p:cNvSpPr/>
          <p:nvPr/>
        </p:nvSpPr>
        <p:spPr>
          <a:xfrm>
            <a:off x="6200954" y="4551164"/>
            <a:ext cx="276582" cy="345758"/>
          </a:xfrm>
          <a:prstGeom prst="rect">
            <a:avLst/>
          </a:prstGeom>
          <a:noFill/>
          <a:ln/>
        </p:spPr>
        <p:txBody>
          <a:bodyPr wrap="none" lIns="0" tIns="0" rIns="0" bIns="0" rtlCol="0" anchor="t"/>
          <a:lstStyle/>
          <a:p>
            <a:pPr marL="0" indent="0" algn="ctr">
              <a:lnSpc>
                <a:spcPts val="2150"/>
              </a:lnSpc>
              <a:buNone/>
            </a:pPr>
            <a:r>
              <a:rPr lang="en-US" sz="2150" dirty="0">
                <a:solidFill>
                  <a:srgbClr val="2C3249"/>
                </a:solidFill>
                <a:latin typeface="Kanit Light" pitchFamily="34" charset="0"/>
                <a:ea typeface="Kanit Light" pitchFamily="34" charset="-122"/>
                <a:cs typeface="Kanit Light" pitchFamily="34" charset="-120"/>
              </a:rPr>
              <a:t>1</a:t>
            </a:r>
            <a:endParaRPr lang="en-US" sz="2150" dirty="0"/>
          </a:p>
        </p:txBody>
      </p:sp>
      <p:sp>
        <p:nvSpPr>
          <p:cNvPr id="10" name="Text 7"/>
          <p:cNvSpPr/>
          <p:nvPr/>
        </p:nvSpPr>
        <p:spPr>
          <a:xfrm>
            <a:off x="7261265" y="4579977"/>
            <a:ext cx="2305169" cy="288131"/>
          </a:xfrm>
          <a:prstGeom prst="rect">
            <a:avLst/>
          </a:prstGeom>
          <a:noFill/>
          <a:ln/>
        </p:spPr>
        <p:txBody>
          <a:bodyPr wrap="none" lIns="0" tIns="0" rIns="0" bIns="0" rtlCol="0" anchor="t"/>
          <a:lstStyle/>
          <a:p>
            <a:pPr marL="0" indent="0" algn="l">
              <a:lnSpc>
                <a:spcPts val="2250"/>
              </a:lnSpc>
              <a:buNone/>
            </a:pPr>
            <a:r>
              <a:rPr lang="en-US" sz="1800" dirty="0">
                <a:solidFill>
                  <a:srgbClr val="2C3249"/>
                </a:solidFill>
                <a:latin typeface="Kanit Light" pitchFamily="34" charset="0"/>
                <a:ea typeface="Kanit Light" pitchFamily="34" charset="-122"/>
                <a:cs typeface="Kanit Light" pitchFamily="34" charset="-120"/>
              </a:rPr>
              <a:t>Origin Point</a:t>
            </a:r>
            <a:endParaRPr lang="en-US" sz="1800" dirty="0"/>
          </a:p>
        </p:txBody>
      </p:sp>
      <p:sp>
        <p:nvSpPr>
          <p:cNvPr id="11" name="Text 8"/>
          <p:cNvSpPr/>
          <p:nvPr/>
        </p:nvSpPr>
        <p:spPr>
          <a:xfrm>
            <a:off x="7261265" y="4978717"/>
            <a:ext cx="6723698" cy="295037"/>
          </a:xfrm>
          <a:prstGeom prst="rect">
            <a:avLst/>
          </a:prstGeom>
          <a:noFill/>
          <a:ln/>
        </p:spPr>
        <p:txBody>
          <a:bodyPr wrap="none" lIns="0" tIns="0" rIns="0" bIns="0" rtlCol="0" anchor="t"/>
          <a:lstStyle/>
          <a:p>
            <a:pPr marL="0" indent="0" algn="l">
              <a:lnSpc>
                <a:spcPts val="2300"/>
              </a:lnSpc>
              <a:buNone/>
            </a:pPr>
            <a:r>
              <a:rPr lang="en-US" sz="1450" dirty="0">
                <a:solidFill>
                  <a:srgbClr val="2C3249"/>
                </a:solidFill>
                <a:latin typeface="Martel Sans" pitchFamily="34" charset="0"/>
                <a:ea typeface="Martel Sans" pitchFamily="34" charset="-122"/>
                <a:cs typeface="Martel Sans" pitchFamily="34" charset="-120"/>
              </a:rPr>
              <a:t>Initial appearance and source of the claim.</a:t>
            </a:r>
            <a:endParaRPr lang="en-US" sz="1450" dirty="0"/>
          </a:p>
        </p:txBody>
      </p:sp>
      <p:sp>
        <p:nvSpPr>
          <p:cNvPr id="12" name="Shape 9"/>
          <p:cNvSpPr/>
          <p:nvPr/>
        </p:nvSpPr>
        <p:spPr>
          <a:xfrm>
            <a:off x="6523792" y="5838468"/>
            <a:ext cx="553164" cy="22860"/>
          </a:xfrm>
          <a:prstGeom prst="roundRect">
            <a:avLst>
              <a:gd name="adj" fmla="val 338819"/>
            </a:avLst>
          </a:prstGeom>
          <a:solidFill>
            <a:srgbClr val="C5D2CF"/>
          </a:solidFill>
          <a:ln/>
        </p:spPr>
      </p:sp>
      <p:sp>
        <p:nvSpPr>
          <p:cNvPr id="13" name="Shape 10"/>
          <p:cNvSpPr/>
          <p:nvPr/>
        </p:nvSpPr>
        <p:spPr>
          <a:xfrm>
            <a:off x="6131838" y="5642491"/>
            <a:ext cx="414814" cy="414814"/>
          </a:xfrm>
          <a:prstGeom prst="roundRect">
            <a:avLst>
              <a:gd name="adj" fmla="val 18672"/>
            </a:avLst>
          </a:prstGeom>
          <a:solidFill>
            <a:srgbClr val="DFECE9"/>
          </a:solidFill>
          <a:ln w="7620">
            <a:solidFill>
              <a:srgbClr val="C5D2CF"/>
            </a:solidFill>
            <a:prstDash val="solid"/>
          </a:ln>
        </p:spPr>
      </p:sp>
      <p:sp>
        <p:nvSpPr>
          <p:cNvPr id="14" name="Text 11"/>
          <p:cNvSpPr/>
          <p:nvPr/>
        </p:nvSpPr>
        <p:spPr>
          <a:xfrm>
            <a:off x="6200954" y="5677019"/>
            <a:ext cx="276582" cy="345758"/>
          </a:xfrm>
          <a:prstGeom prst="rect">
            <a:avLst/>
          </a:prstGeom>
          <a:noFill/>
          <a:ln/>
        </p:spPr>
        <p:txBody>
          <a:bodyPr wrap="none" lIns="0" tIns="0" rIns="0" bIns="0" rtlCol="0" anchor="t"/>
          <a:lstStyle/>
          <a:p>
            <a:pPr marL="0" indent="0" algn="ctr">
              <a:lnSpc>
                <a:spcPts val="2150"/>
              </a:lnSpc>
              <a:buNone/>
            </a:pPr>
            <a:r>
              <a:rPr lang="en-US" sz="2150" dirty="0">
                <a:solidFill>
                  <a:srgbClr val="2C3249"/>
                </a:solidFill>
                <a:latin typeface="Kanit Light" pitchFamily="34" charset="0"/>
                <a:ea typeface="Kanit Light" pitchFamily="34" charset="-122"/>
                <a:cs typeface="Kanit Light" pitchFamily="34" charset="-120"/>
              </a:rPr>
              <a:t>2</a:t>
            </a:r>
            <a:endParaRPr lang="en-US" sz="2150" dirty="0"/>
          </a:p>
        </p:txBody>
      </p:sp>
      <p:sp>
        <p:nvSpPr>
          <p:cNvPr id="15" name="Text 12"/>
          <p:cNvSpPr/>
          <p:nvPr/>
        </p:nvSpPr>
        <p:spPr>
          <a:xfrm>
            <a:off x="7261265" y="5705832"/>
            <a:ext cx="2305169" cy="288131"/>
          </a:xfrm>
          <a:prstGeom prst="rect">
            <a:avLst/>
          </a:prstGeom>
          <a:noFill/>
          <a:ln/>
        </p:spPr>
        <p:txBody>
          <a:bodyPr wrap="none" lIns="0" tIns="0" rIns="0" bIns="0" rtlCol="0" anchor="t"/>
          <a:lstStyle/>
          <a:p>
            <a:pPr marL="0" indent="0" algn="l">
              <a:lnSpc>
                <a:spcPts val="2250"/>
              </a:lnSpc>
              <a:buNone/>
            </a:pPr>
            <a:r>
              <a:rPr lang="en-US" sz="1800" dirty="0">
                <a:solidFill>
                  <a:srgbClr val="2C3249"/>
                </a:solidFill>
                <a:latin typeface="Kanit Light" pitchFamily="34" charset="0"/>
                <a:ea typeface="Kanit Light" pitchFamily="34" charset="-122"/>
                <a:cs typeface="Kanit Light" pitchFamily="34" charset="-120"/>
              </a:rPr>
              <a:t>Fact-Checked</a:t>
            </a:r>
            <a:endParaRPr lang="en-US" sz="1800" dirty="0"/>
          </a:p>
        </p:txBody>
      </p:sp>
      <p:sp>
        <p:nvSpPr>
          <p:cNvPr id="16" name="Text 13"/>
          <p:cNvSpPr/>
          <p:nvPr/>
        </p:nvSpPr>
        <p:spPr>
          <a:xfrm>
            <a:off x="7261265" y="6104573"/>
            <a:ext cx="6723698" cy="295037"/>
          </a:xfrm>
          <a:prstGeom prst="rect">
            <a:avLst/>
          </a:prstGeom>
          <a:noFill/>
          <a:ln/>
        </p:spPr>
        <p:txBody>
          <a:bodyPr wrap="none" lIns="0" tIns="0" rIns="0" bIns="0" rtlCol="0" anchor="t"/>
          <a:lstStyle/>
          <a:p>
            <a:pPr marL="0" indent="0" algn="l">
              <a:lnSpc>
                <a:spcPts val="2300"/>
              </a:lnSpc>
              <a:buNone/>
            </a:pPr>
            <a:r>
              <a:rPr lang="en-US" sz="1450" dirty="0">
                <a:solidFill>
                  <a:srgbClr val="2C3249"/>
                </a:solidFill>
                <a:latin typeface="Martel Sans" pitchFamily="34" charset="0"/>
                <a:ea typeface="Martel Sans" pitchFamily="34" charset="-122"/>
                <a:cs typeface="Martel Sans" pitchFamily="34" charset="-120"/>
              </a:rPr>
              <a:t>When and by whom the claim was first debunked or verified.</a:t>
            </a:r>
            <a:endParaRPr lang="en-US" sz="1450" dirty="0"/>
          </a:p>
        </p:txBody>
      </p:sp>
      <p:sp>
        <p:nvSpPr>
          <p:cNvPr id="17" name="Shape 14"/>
          <p:cNvSpPr/>
          <p:nvPr/>
        </p:nvSpPr>
        <p:spPr>
          <a:xfrm>
            <a:off x="6523792" y="6964323"/>
            <a:ext cx="553164" cy="22860"/>
          </a:xfrm>
          <a:prstGeom prst="roundRect">
            <a:avLst>
              <a:gd name="adj" fmla="val 338819"/>
            </a:avLst>
          </a:prstGeom>
          <a:solidFill>
            <a:srgbClr val="C5D2CF"/>
          </a:solidFill>
          <a:ln/>
        </p:spPr>
      </p:sp>
      <p:sp>
        <p:nvSpPr>
          <p:cNvPr id="18" name="Shape 15"/>
          <p:cNvSpPr/>
          <p:nvPr/>
        </p:nvSpPr>
        <p:spPr>
          <a:xfrm>
            <a:off x="6131838" y="6768346"/>
            <a:ext cx="414814" cy="414814"/>
          </a:xfrm>
          <a:prstGeom prst="roundRect">
            <a:avLst>
              <a:gd name="adj" fmla="val 18672"/>
            </a:avLst>
          </a:prstGeom>
          <a:solidFill>
            <a:srgbClr val="DFECE9"/>
          </a:solidFill>
          <a:ln w="7620">
            <a:solidFill>
              <a:srgbClr val="C5D2CF"/>
            </a:solidFill>
            <a:prstDash val="solid"/>
          </a:ln>
        </p:spPr>
      </p:sp>
      <p:sp>
        <p:nvSpPr>
          <p:cNvPr id="19" name="Text 16"/>
          <p:cNvSpPr/>
          <p:nvPr/>
        </p:nvSpPr>
        <p:spPr>
          <a:xfrm>
            <a:off x="6200954" y="6802874"/>
            <a:ext cx="276582" cy="345758"/>
          </a:xfrm>
          <a:prstGeom prst="rect">
            <a:avLst/>
          </a:prstGeom>
          <a:noFill/>
          <a:ln/>
        </p:spPr>
        <p:txBody>
          <a:bodyPr wrap="none" lIns="0" tIns="0" rIns="0" bIns="0" rtlCol="0" anchor="t"/>
          <a:lstStyle/>
          <a:p>
            <a:pPr marL="0" indent="0" algn="ctr">
              <a:lnSpc>
                <a:spcPts val="2150"/>
              </a:lnSpc>
              <a:buNone/>
            </a:pPr>
            <a:r>
              <a:rPr lang="en-US" sz="2150" dirty="0">
                <a:solidFill>
                  <a:srgbClr val="2C3249"/>
                </a:solidFill>
                <a:latin typeface="Kanit Light" pitchFamily="34" charset="0"/>
                <a:ea typeface="Kanit Light" pitchFamily="34" charset="-122"/>
                <a:cs typeface="Kanit Light" pitchFamily="34" charset="-120"/>
              </a:rPr>
              <a:t>3</a:t>
            </a:r>
            <a:endParaRPr lang="en-US" sz="2150" dirty="0"/>
          </a:p>
        </p:txBody>
      </p:sp>
      <p:sp>
        <p:nvSpPr>
          <p:cNvPr id="20" name="Text 17"/>
          <p:cNvSpPr/>
          <p:nvPr/>
        </p:nvSpPr>
        <p:spPr>
          <a:xfrm>
            <a:off x="7261265" y="6831687"/>
            <a:ext cx="2492097" cy="288131"/>
          </a:xfrm>
          <a:prstGeom prst="rect">
            <a:avLst/>
          </a:prstGeom>
          <a:noFill/>
          <a:ln/>
        </p:spPr>
        <p:txBody>
          <a:bodyPr wrap="none" lIns="0" tIns="0" rIns="0" bIns="0" rtlCol="0" anchor="t"/>
          <a:lstStyle/>
          <a:p>
            <a:pPr marL="0" indent="0" algn="l">
              <a:lnSpc>
                <a:spcPts val="2250"/>
              </a:lnSpc>
              <a:buNone/>
            </a:pPr>
            <a:r>
              <a:rPr lang="en-US" sz="1800" dirty="0">
                <a:solidFill>
                  <a:srgbClr val="2C3249"/>
                </a:solidFill>
                <a:latin typeface="Kanit Light" pitchFamily="34" charset="0"/>
                <a:ea typeface="Kanit Light" pitchFamily="34" charset="-122"/>
                <a:cs typeface="Kanit Light" pitchFamily="34" charset="-120"/>
              </a:rPr>
              <a:t>Widespread Propagation</a:t>
            </a:r>
            <a:endParaRPr lang="en-US" sz="1800" dirty="0"/>
          </a:p>
        </p:txBody>
      </p:sp>
      <p:sp>
        <p:nvSpPr>
          <p:cNvPr id="21" name="Text 18"/>
          <p:cNvSpPr/>
          <p:nvPr/>
        </p:nvSpPr>
        <p:spPr>
          <a:xfrm>
            <a:off x="7261265" y="7230428"/>
            <a:ext cx="6723698" cy="295037"/>
          </a:xfrm>
          <a:prstGeom prst="rect">
            <a:avLst/>
          </a:prstGeom>
          <a:noFill/>
          <a:ln/>
        </p:spPr>
        <p:txBody>
          <a:bodyPr wrap="none" lIns="0" tIns="0" rIns="0" bIns="0" rtlCol="0" anchor="t"/>
          <a:lstStyle/>
          <a:p>
            <a:pPr marL="0" indent="0" algn="l">
              <a:lnSpc>
                <a:spcPts val="2300"/>
              </a:lnSpc>
              <a:buNone/>
            </a:pPr>
            <a:r>
              <a:rPr lang="en-US" sz="1450" dirty="0">
                <a:solidFill>
                  <a:srgbClr val="2C3249"/>
                </a:solidFill>
                <a:latin typeface="Martel Sans" pitchFamily="34" charset="0"/>
                <a:ea typeface="Martel Sans" pitchFamily="34" charset="-122"/>
                <a:cs typeface="Martel Sans" pitchFamily="34" charset="-120"/>
              </a:rPr>
              <a:t>How the claim gained traction and spread across different platforms.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3630" y="718066"/>
            <a:ext cx="6813232" cy="622697"/>
          </a:xfrm>
          <a:prstGeom prst="rect">
            <a:avLst/>
          </a:prstGeom>
          <a:noFill/>
          <a:ln/>
        </p:spPr>
        <p:txBody>
          <a:bodyPr wrap="none" lIns="0" tIns="0" rIns="0" bIns="0" rtlCol="0" anchor="t"/>
          <a:lstStyle/>
          <a:p>
            <a:pPr marL="0" indent="0" algn="l">
              <a:lnSpc>
                <a:spcPts val="4900"/>
              </a:lnSpc>
              <a:buNone/>
            </a:pPr>
            <a:r>
              <a:rPr lang="en-US" sz="3900" dirty="0">
                <a:solidFill>
                  <a:srgbClr val="272D45"/>
                </a:solidFill>
                <a:latin typeface="Kanit Light" pitchFamily="34" charset="0"/>
                <a:ea typeface="Kanit Light" pitchFamily="34" charset="-122"/>
                <a:cs typeface="Kanit Light" pitchFamily="34" charset="-120"/>
              </a:rPr>
              <a:t>Protecting Your Privacy, Always</a:t>
            </a:r>
            <a:endParaRPr lang="en-US" sz="3900" dirty="0"/>
          </a:p>
        </p:txBody>
      </p:sp>
      <p:sp>
        <p:nvSpPr>
          <p:cNvPr id="4" name="Text 1"/>
          <p:cNvSpPr/>
          <p:nvPr/>
        </p:nvSpPr>
        <p:spPr>
          <a:xfrm>
            <a:off x="6183630" y="1639610"/>
            <a:ext cx="7749540" cy="955834"/>
          </a:xfrm>
          <a:prstGeom prst="rect">
            <a:avLst/>
          </a:prstGeom>
          <a:noFill/>
          <a:ln/>
        </p:spPr>
        <p:txBody>
          <a:bodyPr wrap="square" lIns="0" tIns="0" rIns="0" bIns="0" rtlCol="0" anchor="t"/>
          <a:lstStyle/>
          <a:p>
            <a:pPr marL="0" indent="0" algn="l">
              <a:lnSpc>
                <a:spcPts val="2500"/>
              </a:lnSpc>
              <a:buNone/>
            </a:pPr>
            <a:r>
              <a:rPr lang="en-US" sz="1550" dirty="0">
                <a:solidFill>
                  <a:srgbClr val="2C3249"/>
                </a:solidFill>
                <a:latin typeface="Martel Sans" pitchFamily="34" charset="0"/>
                <a:ea typeface="Martel Sans" pitchFamily="34" charset="-122"/>
                <a:cs typeface="Martel Sans" pitchFamily="34" charset="-120"/>
              </a:rPr>
              <a:t>Your privacy is paramount. VeritasAI is built with robust privacy protection features to ensure sensitive information remains confidential during the verification process.</a:t>
            </a:r>
            <a:endParaRPr lang="en-US" sz="1550" dirty="0"/>
          </a:p>
        </p:txBody>
      </p:sp>
      <p:sp>
        <p:nvSpPr>
          <p:cNvPr id="5" name="Shape 2"/>
          <p:cNvSpPr/>
          <p:nvPr/>
        </p:nvSpPr>
        <p:spPr>
          <a:xfrm>
            <a:off x="6183630" y="3118366"/>
            <a:ext cx="7749540" cy="1788200"/>
          </a:xfrm>
          <a:prstGeom prst="roundRect">
            <a:avLst>
              <a:gd name="adj" fmla="val 6136"/>
            </a:avLst>
          </a:prstGeom>
          <a:solidFill>
            <a:srgbClr val="FFFFFF"/>
          </a:solidFill>
          <a:ln/>
        </p:spPr>
      </p:sp>
      <p:sp>
        <p:nvSpPr>
          <p:cNvPr id="6" name="Shape 3"/>
          <p:cNvSpPr/>
          <p:nvPr/>
        </p:nvSpPr>
        <p:spPr>
          <a:xfrm>
            <a:off x="6183630" y="3095506"/>
            <a:ext cx="7749540" cy="91440"/>
          </a:xfrm>
          <a:prstGeom prst="roundRect">
            <a:avLst>
              <a:gd name="adj" fmla="val 91514"/>
            </a:avLst>
          </a:prstGeom>
          <a:solidFill>
            <a:srgbClr val="437066"/>
          </a:solidFill>
          <a:ln/>
        </p:spPr>
      </p:sp>
      <p:sp>
        <p:nvSpPr>
          <p:cNvPr id="7" name="Shape 4"/>
          <p:cNvSpPr/>
          <p:nvPr/>
        </p:nvSpPr>
        <p:spPr>
          <a:xfrm>
            <a:off x="9759553" y="2819519"/>
            <a:ext cx="597694" cy="597694"/>
          </a:xfrm>
          <a:prstGeom prst="roundRect">
            <a:avLst>
              <a:gd name="adj" fmla="val 152988"/>
            </a:avLst>
          </a:prstGeom>
          <a:solidFill>
            <a:srgbClr val="437066"/>
          </a:solidFill>
          <a:ln/>
        </p:spPr>
      </p:sp>
      <p:pic>
        <p:nvPicPr>
          <p:cNvPr id="8" name="Image 1" descr="preencoded.png"/>
          <p:cNvPicPr>
            <a:picLocks noChangeAspect="1"/>
          </p:cNvPicPr>
          <p:nvPr/>
        </p:nvPicPr>
        <p:blipFill>
          <a:blip r:embed="rId4"/>
          <a:stretch>
            <a:fillRect/>
          </a:stretch>
        </p:blipFill>
        <p:spPr>
          <a:xfrm>
            <a:off x="9938861" y="2968943"/>
            <a:ext cx="239078" cy="298847"/>
          </a:xfrm>
          <a:prstGeom prst="rect">
            <a:avLst/>
          </a:prstGeom>
        </p:spPr>
      </p:pic>
      <p:sp>
        <p:nvSpPr>
          <p:cNvPr id="9" name="Text 5"/>
          <p:cNvSpPr/>
          <p:nvPr/>
        </p:nvSpPr>
        <p:spPr>
          <a:xfrm>
            <a:off x="6405682" y="3616404"/>
            <a:ext cx="3080980" cy="311348"/>
          </a:xfrm>
          <a:prstGeom prst="rect">
            <a:avLst/>
          </a:prstGeom>
          <a:noFill/>
          <a:ln/>
        </p:spPr>
        <p:txBody>
          <a:bodyPr wrap="none" lIns="0" tIns="0" rIns="0" bIns="0" rtlCol="0" anchor="t"/>
          <a:lstStyle/>
          <a:p>
            <a:pPr marL="0" indent="0" algn="l">
              <a:lnSpc>
                <a:spcPts val="2450"/>
              </a:lnSpc>
              <a:buNone/>
            </a:pPr>
            <a:r>
              <a:rPr lang="en-US" sz="1950" dirty="0">
                <a:solidFill>
                  <a:srgbClr val="2C3249"/>
                </a:solidFill>
                <a:latin typeface="Kanit Light" pitchFamily="34" charset="0"/>
                <a:ea typeface="Kanit Light" pitchFamily="34" charset="-122"/>
                <a:cs typeface="Kanit Light" pitchFamily="34" charset="-120"/>
              </a:rPr>
              <a:t>Sensitive Element Detection</a:t>
            </a:r>
            <a:endParaRPr lang="en-US" sz="1950" dirty="0"/>
          </a:p>
        </p:txBody>
      </p:sp>
      <p:sp>
        <p:nvSpPr>
          <p:cNvPr id="10" name="Text 6"/>
          <p:cNvSpPr/>
          <p:nvPr/>
        </p:nvSpPr>
        <p:spPr>
          <a:xfrm>
            <a:off x="6405682" y="4047292"/>
            <a:ext cx="7305437" cy="637223"/>
          </a:xfrm>
          <a:prstGeom prst="rect">
            <a:avLst/>
          </a:prstGeom>
          <a:noFill/>
          <a:ln/>
        </p:spPr>
        <p:txBody>
          <a:bodyPr wrap="square" lIns="0" tIns="0" rIns="0" bIns="0" rtlCol="0" anchor="t"/>
          <a:lstStyle/>
          <a:p>
            <a:pPr marL="0" indent="0" algn="l">
              <a:lnSpc>
                <a:spcPts val="2500"/>
              </a:lnSpc>
              <a:buNone/>
            </a:pPr>
            <a:r>
              <a:rPr lang="en-US" sz="1550" dirty="0">
                <a:solidFill>
                  <a:srgbClr val="2C3249"/>
                </a:solidFill>
                <a:latin typeface="Martel Sans" pitchFamily="34" charset="0"/>
                <a:ea typeface="Martel Sans" pitchFamily="34" charset="-122"/>
                <a:cs typeface="Martel Sans" pitchFamily="34" charset="-120"/>
              </a:rPr>
              <a:t>Our AI automatically identifies private elements like faces, identification documents, and intimate visuals within uploaded content.</a:t>
            </a:r>
            <a:endParaRPr lang="en-US" sz="1550" dirty="0"/>
          </a:p>
        </p:txBody>
      </p:sp>
      <p:sp>
        <p:nvSpPr>
          <p:cNvPr id="11" name="Shape 7"/>
          <p:cNvSpPr/>
          <p:nvPr/>
        </p:nvSpPr>
        <p:spPr>
          <a:xfrm>
            <a:off x="6183630" y="5404604"/>
            <a:ext cx="7749540" cy="2106811"/>
          </a:xfrm>
          <a:prstGeom prst="roundRect">
            <a:avLst>
              <a:gd name="adj" fmla="val 5208"/>
            </a:avLst>
          </a:prstGeom>
          <a:solidFill>
            <a:srgbClr val="FFFFFF"/>
          </a:solidFill>
          <a:ln/>
        </p:spPr>
      </p:sp>
      <p:sp>
        <p:nvSpPr>
          <p:cNvPr id="12" name="Shape 8"/>
          <p:cNvSpPr/>
          <p:nvPr/>
        </p:nvSpPr>
        <p:spPr>
          <a:xfrm>
            <a:off x="6183630" y="5381744"/>
            <a:ext cx="7749540" cy="91440"/>
          </a:xfrm>
          <a:prstGeom prst="roundRect">
            <a:avLst>
              <a:gd name="adj" fmla="val 91514"/>
            </a:avLst>
          </a:prstGeom>
          <a:solidFill>
            <a:srgbClr val="437066"/>
          </a:solidFill>
          <a:ln/>
        </p:spPr>
      </p:sp>
      <p:sp>
        <p:nvSpPr>
          <p:cNvPr id="13" name="Shape 9"/>
          <p:cNvSpPr/>
          <p:nvPr/>
        </p:nvSpPr>
        <p:spPr>
          <a:xfrm>
            <a:off x="9759553" y="5105757"/>
            <a:ext cx="597694" cy="597694"/>
          </a:xfrm>
          <a:prstGeom prst="roundRect">
            <a:avLst>
              <a:gd name="adj" fmla="val 152988"/>
            </a:avLst>
          </a:prstGeom>
          <a:solidFill>
            <a:srgbClr val="437066"/>
          </a:solidFill>
          <a:ln/>
        </p:spPr>
      </p:sp>
      <p:pic>
        <p:nvPicPr>
          <p:cNvPr id="14" name="Image 2" descr="preencoded.png"/>
          <p:cNvPicPr>
            <a:picLocks noChangeAspect="1"/>
          </p:cNvPicPr>
          <p:nvPr/>
        </p:nvPicPr>
        <p:blipFill>
          <a:blip r:embed="rId5"/>
          <a:stretch>
            <a:fillRect/>
          </a:stretch>
        </p:blipFill>
        <p:spPr>
          <a:xfrm>
            <a:off x="9938861" y="5255181"/>
            <a:ext cx="239078" cy="298847"/>
          </a:xfrm>
          <a:prstGeom prst="rect">
            <a:avLst/>
          </a:prstGeom>
        </p:spPr>
      </p:pic>
      <p:sp>
        <p:nvSpPr>
          <p:cNvPr id="15" name="Text 10"/>
          <p:cNvSpPr/>
          <p:nvPr/>
        </p:nvSpPr>
        <p:spPr>
          <a:xfrm>
            <a:off x="6405682" y="5902643"/>
            <a:ext cx="2895719" cy="311348"/>
          </a:xfrm>
          <a:prstGeom prst="rect">
            <a:avLst/>
          </a:prstGeom>
          <a:noFill/>
          <a:ln/>
        </p:spPr>
        <p:txBody>
          <a:bodyPr wrap="none" lIns="0" tIns="0" rIns="0" bIns="0" rtlCol="0" anchor="t"/>
          <a:lstStyle/>
          <a:p>
            <a:pPr marL="0" indent="0" algn="l">
              <a:lnSpc>
                <a:spcPts val="2450"/>
              </a:lnSpc>
              <a:buNone/>
            </a:pPr>
            <a:r>
              <a:rPr lang="en-US" sz="1950" dirty="0">
                <a:solidFill>
                  <a:srgbClr val="2C3249"/>
                </a:solidFill>
                <a:latin typeface="Kanit Light" pitchFamily="34" charset="0"/>
                <a:ea typeface="Kanit Light" pitchFamily="34" charset="-122"/>
                <a:cs typeface="Kanit Light" pitchFamily="34" charset="-120"/>
              </a:rPr>
              <a:t>Automatic Anonymization</a:t>
            </a:r>
            <a:endParaRPr lang="en-US" sz="1950" dirty="0"/>
          </a:p>
        </p:txBody>
      </p:sp>
      <p:sp>
        <p:nvSpPr>
          <p:cNvPr id="16" name="Text 11"/>
          <p:cNvSpPr/>
          <p:nvPr/>
        </p:nvSpPr>
        <p:spPr>
          <a:xfrm>
            <a:off x="6405682" y="6333530"/>
            <a:ext cx="7305437" cy="955834"/>
          </a:xfrm>
          <a:prstGeom prst="rect">
            <a:avLst/>
          </a:prstGeom>
          <a:noFill/>
          <a:ln/>
        </p:spPr>
        <p:txBody>
          <a:bodyPr wrap="square" lIns="0" tIns="0" rIns="0" bIns="0" rtlCol="0" anchor="t"/>
          <a:lstStyle/>
          <a:p>
            <a:pPr marL="0" indent="0" algn="l">
              <a:lnSpc>
                <a:spcPts val="2500"/>
              </a:lnSpc>
              <a:buNone/>
            </a:pPr>
            <a:r>
              <a:rPr lang="en-US" sz="1550" dirty="0">
                <a:solidFill>
                  <a:srgbClr val="2C3249"/>
                </a:solidFill>
                <a:latin typeface="Martel Sans" pitchFamily="34" charset="0"/>
                <a:ea typeface="Martel Sans" pitchFamily="34" charset="-122"/>
                <a:cs typeface="Martel Sans" pitchFamily="34" charset="-120"/>
              </a:rPr>
              <a:t>Detected sensitive content is automatically blurred or masked, and a warning message is sent to the content owner, ensuring compliance and safeguarding privacy.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75442" y="987028"/>
            <a:ext cx="7735014" cy="603171"/>
          </a:xfrm>
          <a:prstGeom prst="rect">
            <a:avLst/>
          </a:prstGeom>
          <a:noFill/>
          <a:ln/>
        </p:spPr>
        <p:txBody>
          <a:bodyPr wrap="none" lIns="0" tIns="0" rIns="0" bIns="0" rtlCol="0" anchor="t"/>
          <a:lstStyle/>
          <a:p>
            <a:pPr marL="0" indent="0" algn="l">
              <a:lnSpc>
                <a:spcPts val="4700"/>
              </a:lnSpc>
              <a:buNone/>
            </a:pPr>
            <a:r>
              <a:rPr lang="en-US" sz="3750" dirty="0">
                <a:solidFill>
                  <a:srgbClr val="272D45"/>
                </a:solidFill>
                <a:latin typeface="Kanit Light" pitchFamily="34" charset="0"/>
                <a:ea typeface="Kanit Light" pitchFamily="34" charset="-122"/>
                <a:cs typeface="Kanit Light" pitchFamily="34" charset="-120"/>
              </a:rPr>
              <a:t>Global Accessibility &amp; Empowerment</a:t>
            </a:r>
            <a:endParaRPr lang="en-US" sz="3750" dirty="0"/>
          </a:p>
        </p:txBody>
      </p:sp>
      <p:sp>
        <p:nvSpPr>
          <p:cNvPr id="4" name="Text 1"/>
          <p:cNvSpPr/>
          <p:nvPr/>
        </p:nvSpPr>
        <p:spPr>
          <a:xfrm>
            <a:off x="675442" y="1879640"/>
            <a:ext cx="7793117" cy="926187"/>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VeritasAI is committed to making truth accessible to everyone, everywhere. Our platform supports diverse communication methods and empowers users with vital knowledge.</a:t>
            </a:r>
            <a:endParaRPr lang="en-US" sz="1500" dirty="0"/>
          </a:p>
        </p:txBody>
      </p:sp>
      <p:pic>
        <p:nvPicPr>
          <p:cNvPr id="5" name="Image 1" descr="preencoded.png"/>
          <p:cNvPicPr>
            <a:picLocks noChangeAspect="1"/>
          </p:cNvPicPr>
          <p:nvPr/>
        </p:nvPicPr>
        <p:blipFill>
          <a:blip r:embed="rId4"/>
          <a:stretch>
            <a:fillRect/>
          </a:stretch>
        </p:blipFill>
        <p:spPr>
          <a:xfrm>
            <a:off x="675442" y="3022878"/>
            <a:ext cx="482441" cy="482441"/>
          </a:xfrm>
          <a:prstGeom prst="rect">
            <a:avLst/>
          </a:prstGeom>
        </p:spPr>
      </p:pic>
      <p:sp>
        <p:nvSpPr>
          <p:cNvPr id="6" name="Text 2"/>
          <p:cNvSpPr/>
          <p:nvPr/>
        </p:nvSpPr>
        <p:spPr>
          <a:xfrm>
            <a:off x="1399103" y="3137416"/>
            <a:ext cx="2412444" cy="301466"/>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Voice Input/Output</a:t>
            </a:r>
            <a:endParaRPr lang="en-US" sz="1850" dirty="0"/>
          </a:p>
        </p:txBody>
      </p:sp>
      <p:sp>
        <p:nvSpPr>
          <p:cNvPr id="7" name="Text 3"/>
          <p:cNvSpPr/>
          <p:nvPr/>
        </p:nvSpPr>
        <p:spPr>
          <a:xfrm>
            <a:off x="1399103" y="3554611"/>
            <a:ext cx="7069455" cy="617458"/>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Speak your claim, and let the app check and speak the result back to you, highly useful for accessibility and convenience.</a:t>
            </a:r>
            <a:endParaRPr lang="en-US" sz="1500" dirty="0"/>
          </a:p>
        </p:txBody>
      </p:sp>
      <p:pic>
        <p:nvPicPr>
          <p:cNvPr id="8" name="Image 2" descr="preencoded.png"/>
          <p:cNvPicPr>
            <a:picLocks noChangeAspect="1"/>
          </p:cNvPicPr>
          <p:nvPr/>
        </p:nvPicPr>
        <p:blipFill>
          <a:blip r:embed="rId5"/>
          <a:stretch>
            <a:fillRect/>
          </a:stretch>
        </p:blipFill>
        <p:spPr>
          <a:xfrm>
            <a:off x="675442" y="4558070"/>
            <a:ext cx="482441" cy="482441"/>
          </a:xfrm>
          <a:prstGeom prst="rect">
            <a:avLst/>
          </a:prstGeom>
        </p:spPr>
      </p:pic>
      <p:sp>
        <p:nvSpPr>
          <p:cNvPr id="9" name="Text 4"/>
          <p:cNvSpPr/>
          <p:nvPr/>
        </p:nvSpPr>
        <p:spPr>
          <a:xfrm>
            <a:off x="1399103" y="4672608"/>
            <a:ext cx="2595324" cy="301466"/>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Multi-Language Support</a:t>
            </a:r>
            <a:endParaRPr lang="en-US" sz="1850" dirty="0"/>
          </a:p>
        </p:txBody>
      </p:sp>
      <p:sp>
        <p:nvSpPr>
          <p:cNvPr id="10" name="Text 5"/>
          <p:cNvSpPr/>
          <p:nvPr/>
        </p:nvSpPr>
        <p:spPr>
          <a:xfrm>
            <a:off x="1399103" y="5089803"/>
            <a:ext cx="7069455" cy="617458"/>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Fact-checking capabilities are available across multiple languages with automatic translation, crucial for diverse regions.</a:t>
            </a:r>
            <a:endParaRPr lang="en-US" sz="1500" dirty="0"/>
          </a:p>
        </p:txBody>
      </p:sp>
      <p:pic>
        <p:nvPicPr>
          <p:cNvPr id="11" name="Image 3" descr="preencoded.png"/>
          <p:cNvPicPr>
            <a:picLocks noChangeAspect="1"/>
          </p:cNvPicPr>
          <p:nvPr/>
        </p:nvPicPr>
        <p:blipFill>
          <a:blip r:embed="rId6"/>
          <a:stretch>
            <a:fillRect/>
          </a:stretch>
        </p:blipFill>
        <p:spPr>
          <a:xfrm>
            <a:off x="675442" y="6093262"/>
            <a:ext cx="482441" cy="482441"/>
          </a:xfrm>
          <a:prstGeom prst="rect">
            <a:avLst/>
          </a:prstGeom>
        </p:spPr>
      </p:pic>
      <p:sp>
        <p:nvSpPr>
          <p:cNvPr id="12" name="Text 6"/>
          <p:cNvSpPr/>
          <p:nvPr/>
        </p:nvSpPr>
        <p:spPr>
          <a:xfrm>
            <a:off x="1399103" y="6207800"/>
            <a:ext cx="2412444" cy="301466"/>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Digital Literacy Tips</a:t>
            </a:r>
            <a:endParaRPr lang="en-US" sz="1850" dirty="0"/>
          </a:p>
        </p:txBody>
      </p:sp>
      <p:sp>
        <p:nvSpPr>
          <p:cNvPr id="13" name="Text 7"/>
          <p:cNvSpPr/>
          <p:nvPr/>
        </p:nvSpPr>
        <p:spPr>
          <a:xfrm>
            <a:off x="1399103" y="6624995"/>
            <a:ext cx="7069455" cy="617458"/>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A dedicated section provides key safety tips on detecting fake news, protecting privacy, and reporting harmful content, enhancing digital literacy.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73987"/>
            <a:ext cx="7006709"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Join the Movement for Truth</a:t>
            </a:r>
            <a:endParaRPr lang="en-US" sz="4450" dirty="0"/>
          </a:p>
        </p:txBody>
      </p:sp>
      <p:sp>
        <p:nvSpPr>
          <p:cNvPr id="4" name="Text 1"/>
          <p:cNvSpPr/>
          <p:nvPr/>
        </p:nvSpPr>
        <p:spPr>
          <a:xfrm>
            <a:off x="793790" y="342292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VeritasAI is more than just a tool; it's a commitment to fostering a digital environment built on accuracy, trust, and informed decision-making. Be part of the solution in the ongoing fight against misinformation.</a:t>
            </a:r>
            <a:endParaRPr lang="en-US" sz="1750" dirty="0"/>
          </a:p>
        </p:txBody>
      </p:sp>
      <p:sp>
        <p:nvSpPr>
          <p:cNvPr id="5" name="Text 2"/>
          <p:cNvSpPr/>
          <p:nvPr/>
        </p:nvSpPr>
        <p:spPr>
          <a:xfrm>
            <a:off x="793790" y="5129689"/>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Empower yourself and others with VeritasAI. Together, we can build a more trustworthy online world.</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710</Words>
  <Application>Microsoft Office PowerPoint</Application>
  <PresentationFormat>Custom</PresentationFormat>
  <Paragraphs>67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Kanit Light</vt:lpstr>
      <vt:lpstr>Martel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Navya Sri Maddali</dc:creator>
  <cp:lastModifiedBy>Navya Sri Maddali</cp:lastModifiedBy>
  <cp:revision>1</cp:revision>
  <dcterms:created xsi:type="dcterms:W3CDTF">2025-09-09T07:24:35Z</dcterms:created>
  <dcterms:modified xsi:type="dcterms:W3CDTF">2025-09-09T13:59:33Z</dcterms:modified>
</cp:coreProperties>
</file>